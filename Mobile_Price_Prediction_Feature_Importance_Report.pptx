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>
                  <a:lumMod val="40000"/>
                  <a:lumOff val="60000"/>
                </a:schemeClr>
              </a:solidFill>
              <a:highlight>
                <a:srgbClr val="00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96009-39BF-E7CC-87C0-0C0A0586FCD3}"/>
              </a:ext>
            </a:extLst>
          </p:cNvPr>
          <p:cNvSpPr txBox="1"/>
          <p:nvPr/>
        </p:nvSpPr>
        <p:spPr>
          <a:xfrm>
            <a:off x="578146" y="878437"/>
            <a:ext cx="713232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300" b="1">
                <a:solidFill>
                  <a:srgbClr val="3FBECA"/>
                </a:solidFill>
                <a:latin typeface="Aptos"/>
              </a:defRPr>
            </a:pPr>
            <a:r>
              <a:rPr dirty="0"/>
              <a:t>PROJECT REPORT •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E1DF2E-EB66-D9EF-FEA5-F84025310AE7}"/>
              </a:ext>
            </a:extLst>
          </p:cNvPr>
          <p:cNvSpPr txBox="1"/>
          <p:nvPr/>
        </p:nvSpPr>
        <p:spPr>
          <a:xfrm>
            <a:off x="578146" y="1605078"/>
            <a:ext cx="7498079" cy="132588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3400" b="1">
                <a:solidFill>
                  <a:srgbClr val="FAFCFF"/>
                </a:solidFill>
                <a:latin typeface="Aptos"/>
              </a:defRPr>
            </a:pPr>
            <a:r>
              <a:rPr dirty="0"/>
              <a:t>Feature </a:t>
            </a:r>
            <a:r>
              <a:rPr lang="en-IN" dirty="0"/>
              <a:t>Extraction </a:t>
            </a:r>
            <a:r>
              <a:rPr dirty="0"/>
              <a:t>&amp;</a:t>
            </a:r>
            <a:br>
              <a:rPr dirty="0"/>
            </a:br>
            <a:r>
              <a:rPr dirty="0"/>
              <a:t>Mobile Phone Price Prediction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6D3C9E-12D1-8EAB-69F8-F6EC35FAD8B7}"/>
              </a:ext>
            </a:extLst>
          </p:cNvPr>
          <p:cNvSpPr txBox="1"/>
          <p:nvPr/>
        </p:nvSpPr>
        <p:spPr>
          <a:xfrm>
            <a:off x="703663" y="3337560"/>
            <a:ext cx="6675120" cy="9601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defRPr sz="1800" b="0">
                <a:solidFill>
                  <a:srgbClr val="E5EEF8"/>
                </a:solidFill>
                <a:latin typeface="Aptos"/>
              </a:defRPr>
            </a:pPr>
            <a:r>
              <a:rPr dirty="0"/>
              <a:t>A machine-learning workflow to estimate phone prices from specifications and interpret which input features help predictions.</a:t>
            </a:r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35521B30-F358-D9D2-62C6-AB3085ACF203}"/>
              </a:ext>
            </a:extLst>
          </p:cNvPr>
          <p:cNvSpPr/>
          <p:nvPr/>
        </p:nvSpPr>
        <p:spPr>
          <a:xfrm>
            <a:off x="777240" y="4663440"/>
            <a:ext cx="1965960" cy="384048"/>
          </a:xfrm>
          <a:prstGeom prst="roundRect">
            <a:avLst/>
          </a:prstGeom>
          <a:solidFill>
            <a:srgbClr val="367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0990AE9C-D7D6-C554-104D-E9D959A3E0E1}"/>
              </a:ext>
            </a:extLst>
          </p:cNvPr>
          <p:cNvSpPr/>
          <p:nvPr/>
        </p:nvSpPr>
        <p:spPr>
          <a:xfrm>
            <a:off x="3417570" y="4642772"/>
            <a:ext cx="1965960" cy="384048"/>
          </a:xfrm>
          <a:prstGeom prst="roundRect">
            <a:avLst/>
          </a:prstGeom>
          <a:solidFill>
            <a:srgbClr val="47A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0496ECEE-8014-E236-9F84-5ECB3124F428}"/>
              </a:ext>
            </a:extLst>
          </p:cNvPr>
          <p:cNvSpPr/>
          <p:nvPr/>
        </p:nvSpPr>
        <p:spPr>
          <a:xfrm>
            <a:off x="6057900" y="4663440"/>
            <a:ext cx="1965960" cy="384048"/>
          </a:xfrm>
          <a:prstGeom prst="roundRect">
            <a:avLst/>
          </a:prstGeom>
          <a:solidFill>
            <a:srgbClr val="F2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E2266D-73B7-A0DA-87B6-6937E4E6149E}"/>
              </a:ext>
            </a:extLst>
          </p:cNvPr>
          <p:cNvSpPr txBox="1"/>
          <p:nvPr/>
        </p:nvSpPr>
        <p:spPr>
          <a:xfrm>
            <a:off x="703663" y="4733705"/>
            <a:ext cx="1892807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000" b="1">
                <a:solidFill>
                  <a:srgbClr val="FAFCFF"/>
                </a:solidFill>
                <a:latin typeface="Aptos"/>
              </a:defRPr>
            </a:pPr>
            <a:r>
              <a:rPr dirty="0"/>
              <a:t>REGRESSION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B5F2DB-8243-FDC8-FE95-48287A3C4BB0}"/>
              </a:ext>
            </a:extLst>
          </p:cNvPr>
          <p:cNvSpPr txBox="1"/>
          <p:nvPr/>
        </p:nvSpPr>
        <p:spPr>
          <a:xfrm>
            <a:off x="3380781" y="4742189"/>
            <a:ext cx="1892807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000" b="1">
                <a:solidFill>
                  <a:srgbClr val="FAFCFF"/>
                </a:solidFill>
                <a:latin typeface="Aptos"/>
              </a:defRPr>
            </a:pPr>
            <a:r>
              <a:rPr dirty="0"/>
              <a:t>MODEL COMPARISON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C370F1-10DA-9EBF-AFE8-420CE7C1E879}"/>
              </a:ext>
            </a:extLst>
          </p:cNvPr>
          <p:cNvSpPr txBox="1"/>
          <p:nvPr/>
        </p:nvSpPr>
        <p:spPr>
          <a:xfrm>
            <a:off x="6131053" y="4754397"/>
            <a:ext cx="1892807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defRPr sz="1000" b="1">
                <a:solidFill>
                  <a:srgbClr val="FAFCFF"/>
                </a:solidFill>
                <a:latin typeface="Aptos"/>
              </a:defRPr>
            </a:pPr>
            <a:r>
              <a:rPr dirty="0"/>
              <a:t>FEATURE IMPORTANCE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What the notebook's saved results indicate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rPr dirty="0"/>
              <a:t>MOBILE PRICE PREDICTION  •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D6CDF"/>
                </a:solidFill>
                <a:latin typeface="Aptos"/>
              </a:defRPr>
            </a:pPr>
            <a:r>
              <a:rPr dirty="0"/>
              <a:t>₹1,591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Extra Trees test MAE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544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79" y="17190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A9D8F"/>
                </a:solidFill>
                <a:latin typeface="Aptos"/>
              </a:defRPr>
            </a:pPr>
            <a:r>
              <a:t>0.899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Extra Trees test R²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39" y="15544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7190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F4A261"/>
                </a:solidFill>
                <a:latin typeface="Aptos"/>
              </a:defRPr>
            </a:pPr>
            <a:r>
              <a:t>541 → 531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Rows after duplicate removal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5544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17190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D6CDF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Top feature in main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5204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rPr dirty="0"/>
              <a:t>•  Storage and RAM show the clearest positive relationships with price among numeric variables.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rPr dirty="0"/>
              <a:t>•  Permutation importance ranks Memory, Front Camera, Model and RAM highest in the main Extra Trees workflow.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rPr dirty="0"/>
              <a:t>•  A second Random Forest workflow ranks Front Camera first; importance is model/split dependent.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rPr dirty="0"/>
              <a:t>•  The saved notebook contains two different model runs—results are reported separately, not blended.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Project objective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From device specifications to an interpretable price estimate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 Predict observed mobile-phone Price from specification fields.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 Explore how storage, RAM, battery, cameras, model, processor and colour relate to price.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 Compare five regression algorithms using a held-out test split.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 Use permutation importance to estimate how much each input contributes to predictive performance.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 Translate the findings into practical guidance while avoiding causal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80" y="19933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D6CDF"/>
                </a:solidFill>
                <a:latin typeface="Aptos"/>
              </a:defRPr>
            </a:pPr>
            <a:r>
              <a:t>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2560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Supervised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24612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34107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A9D8F"/>
                </a:solidFill>
                <a:latin typeface="Aptos"/>
              </a:defRPr>
            </a:pPr>
            <a:r>
              <a:rPr dirty="0"/>
              <a:t>20% </a:t>
            </a:r>
            <a:r>
              <a:rPr lang="en-IN" dirty="0"/>
              <a:t>T</a:t>
            </a:r>
            <a:r>
              <a:rPr dirty="0"/>
              <a:t>est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397763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Held-out evaluation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66344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80" y="4828031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F4A261"/>
                </a:solidFill>
                <a:latin typeface="Aptos"/>
              </a:defRPr>
            </a:pPr>
            <a:r>
              <a:t>Permutation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539495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Feature importance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Dataset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Notebook output: 541 records and 11 fields after index-column removal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D6CDF"/>
                </a:solidFill>
                <a:latin typeface="Aptos"/>
              </a:defRPr>
            </a:pPr>
            <a:r>
              <a:t>541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records before deduplication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0020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7647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A9D8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317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columns reported by df.info()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60020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17647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F4A26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3317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numeric columns incl.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60020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17647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43BCC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3317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categorical 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Target: Price (cleaned to numeric; source column was named Prize before renaming).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Numeric: Memory, RAM, Battery, AI Lens, Mobile Height, Price.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Categorical: Model, Colour, Rear Camera, Front Camera, Processor.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Source is a processed Flipdata mobile listing dataset; currency is interpreted as ₹ based on the notebook's price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Data preparation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Sequence visible in the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D6CD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Load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265176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Processed_Flipdata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7647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D6CD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31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Normalize 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65176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rPr dirty="0"/>
              <a:t>Battery_, Processor_, Prize → Battery, Processor,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0020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7647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D6CD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31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Clean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65176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Price string → numeric; remove exported index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1188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7764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A9D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Remove duplicates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1" y="466344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10 duplicate rows reported; deduplication applied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61188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37764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A9D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43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Prepare 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66344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Median imputation for numeric; mode + one-hot for categorical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61188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37764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A9D8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343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Split &amp; 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663440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80% train / 20% test; fixed random seed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Data quality &amp;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What cleaning does—and does not—guarantee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06</a:t>
            </a:r>
          </a:p>
        </p:txBody>
      </p:sp>
      <p:pic>
        <p:nvPicPr>
          <p:cNvPr id="7" name="Picture 6" descr="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576072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160020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The notebook reports 10 duplicate records and then drops duplicates.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A later df.info() output shows 541 non-null values across 11 fields; this appears to be from before the duplicate-removal step or a separate execution state.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The notebook does not display a complete missing-value summary in its saved outputs, so missingness cannot be quantified confidently here.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One later modelling block uses a different split seed and Random Forest configuration; its importance values differ.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Price target: how to read 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Observed prices vary widely; model errors are reported in the same price units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 The notebook includes a price histogram with KDE and a price boxplot, but the saved notebook does not expose numeric quantiles in the output text.</a:t>
            </a:r>
          </a:p>
          <a:p>
            <a:pPr>
              <a:spcAft>
                <a:spcPts val="1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 Price is the regression target; predictions are continuous values.</a:t>
            </a:r>
          </a:p>
          <a:p>
            <a:pPr>
              <a:spcAft>
                <a:spcPts val="1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 Outliers can strongly affect RMSE because squared errors penalize large misses more heavily.</a:t>
            </a:r>
          </a:p>
          <a:p>
            <a:pPr>
              <a:spcAft>
                <a:spcPts val="1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 MAE is easier to interpret as a typical absolute miss; the best MAE in the primary comparison is about ₹1.59k.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82880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19933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D6CDF"/>
                </a:solidFill>
                <a:latin typeface="Aptos"/>
              </a:defRPr>
            </a:pPr>
            <a:r>
              <a:t>₹1,591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5603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Primary best-model MAE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42900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8040" y="35935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F4A261"/>
                </a:solidFill>
                <a:latin typeface="Aptos"/>
              </a:defRPr>
            </a:pPr>
            <a:r>
              <a:t>₹3,539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41605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Primary best-model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9834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notebook's actual price-distribution plot is present in the source, but exact median/range values are not printed in the captured outputs.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Numeric relationships with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Pearson correlations from the notebook's first correlation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08</a:t>
            </a:r>
          </a:p>
        </p:txBody>
      </p:sp>
      <p:pic>
        <p:nvPicPr>
          <p:cNvPr id="7" name="Picture 6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66928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6002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Memory ↔ Price: +0.560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RAM ↔ Price: +0.527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Mobile Height ↔ Price: +0.160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Battery ↔ Price: −0.059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AI Lens ↔ Price: −0.159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Correlations summarize linear association only; they do not establish causation or capture all categorical effects.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Storage is a strong price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Average and median prices rise across the observed storage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09</a:t>
            </a:r>
          </a:p>
        </p:txBody>
      </p:sp>
      <p:pic>
        <p:nvPicPr>
          <p:cNvPr id="7" name="Picture 6" descr="memor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58368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6002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16 GB: mean ₹4,012 (n=4)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64 GB: mean ₹10,679 (n=161)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128 GB: mean ₹19,722 (n=249)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256 GB: mean ₹28,003 (n=55)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128 GB is the most common tier in this dataset. Small groups, especially 16 GB, make their means less stable.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RAM is also strongly associated with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Mean price grows from 2 GB to 8 GB RAM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10</a:t>
            </a:r>
          </a:p>
        </p:txBody>
      </p:sp>
      <p:pic>
        <p:nvPicPr>
          <p:cNvPr id="7" name="Picture 6" descr="ram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58368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6002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2 GB: mean ₹7,865 (n=37)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4 GB: mean ₹12,017 (n=174)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6 GB: mean ₹17,514 (n=117)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8 GB: mean ₹24,250 (n=153)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Memory and RAM correlate with each other (+0.624), so their individual effects overlap.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Camera features: useful, but not simple price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Average price by front-camera megapixel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11</a:t>
            </a:r>
          </a:p>
        </p:txBody>
      </p:sp>
      <p:pic>
        <p:nvPicPr>
          <p:cNvPr id="7" name="Picture 6" descr="front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76656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160020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Front Camera is #2 in the primary permutation-importance run.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The 32 MP group averages about ₹30,987; 16 MP averages ₹19,936.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Camera tiers contain different phone models and price segments, so these are descriptive comparisons, not isolated camera effects.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Some tiers have very few records (e.g., 50 MP n=7; 60 MP n=4).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Rear-camera tiers show mixed price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Average price by rear-camera megapixel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12</a:t>
            </a:r>
          </a:p>
        </p:txBody>
      </p:sp>
      <p:pic>
        <p:nvPicPr>
          <p:cNvPr id="7" name="Picture 6" descr="rear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76656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160020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50 MP is the most frequent rear-camera category in the saved summary (n=250).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200 MP phones average ₹36,124, but only 8 records are in that tier.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12 MP averages ₹48,768 with only 10 records, illustrating why sample size and model mix matter.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Megapixels alone should not be treated as a direct measure of camera quality or price.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Feature interactions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Why one-feature comparisons can be misleading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The notebook plots Memory vs Price with RAM encoded by colour/size.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It also plots RAM vs Price with Battery as an additional dimension.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Camera scatterplots compare rear-camera and front-camera specifications.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A RAM × Memory summary table shows some high-price combinations have very few observations.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Together, these views support interaction-aware models rather than a single linear rule.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3736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19019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D6CDF"/>
                </a:solidFill>
                <a:latin typeface="Aptos"/>
              </a:defRPr>
            </a:pPr>
            <a:r>
              <a:t>Memory × 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468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Joint capacity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15468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8040" y="33192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A9D8F"/>
                </a:solidFill>
                <a:latin typeface="Aptos"/>
              </a:defRPr>
            </a:pPr>
            <a:r>
              <a:t>Model × Specs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886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Brand/model positioning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457200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47365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F4A261"/>
                </a:solidFill>
                <a:latin typeface="Aptos"/>
              </a:defRPr>
            </a:pPr>
            <a:r>
              <a:t>Camera ×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5303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Segment confounding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Model comparison: held-out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Primary workflow: 80/20 split, random_state=4210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14</a:t>
            </a:r>
          </a:p>
        </p:txBody>
      </p:sp>
      <p:pic>
        <p:nvPicPr>
          <p:cNvPr id="7" name="Picture 6" descr="model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67512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508760"/>
            <a:ext cx="4297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 Extra Trees: MAE ₹1,591; RMSE ₹3,539; R² 0.899</a:t>
            </a:r>
          </a:p>
          <a:p>
            <a:pPr>
              <a:spcAft>
                <a:spcPts val="13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 Random Forest: MAE ₹1,682; RMSE ₹3,140; R² 0.921</a:t>
            </a:r>
          </a:p>
          <a:p>
            <a:pPr>
              <a:spcAft>
                <a:spcPts val="13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 Linear Regression: MAE ₹2,451; RMSE ₹4,243; R² 0.855</a:t>
            </a:r>
          </a:p>
          <a:p>
            <a:pPr>
              <a:spcAft>
                <a:spcPts val="13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 Gradient Boosting: MAE ₹2,661; RMSE ₹3,722; R² 0.889</a:t>
            </a:r>
          </a:p>
          <a:p>
            <a:pPr>
              <a:spcAft>
                <a:spcPts val="13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 Decision Tree: MAE ₹2,843; RMSE ₹5,200; R² 0.783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Accuracy lens: R² versus absolute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No single metric tells the whole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15</a:t>
            </a:r>
          </a:p>
        </p:txBody>
      </p:sp>
      <p:pic>
        <p:nvPicPr>
          <p:cNvPr id="7" name="Picture 6" descr="model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21792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160020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Random Forest has the highest R² (0.921) and lowest RMSE (₹3,140).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Extra Trees has the lowest MAE (₹1,591), so the notebook labels it best by test MAE.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Use Extra Trees when typical absolute error is the priority; Random Forest may be preferred if RMSE/R² matter more.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The best model depends on the operational cost of different error types.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rPr dirty="0"/>
              <a:t>Feature importance: </a:t>
            </a:r>
            <a:r>
              <a:rPr lang="en-IN" dirty="0"/>
              <a:t>P</a:t>
            </a:r>
            <a:r>
              <a:rPr dirty="0" err="1"/>
              <a:t>rimary</a:t>
            </a:r>
            <a:r>
              <a:rPr dirty="0"/>
              <a:t>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Permutation importance on the held-out test set; higher means shuffling worsens MAE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rPr dirty="0"/>
              <a:t>MOBILE PRICE PREDICTION  •  16</a:t>
            </a:r>
          </a:p>
        </p:txBody>
      </p:sp>
      <p:pic>
        <p:nvPicPr>
          <p:cNvPr id="7" name="Picture 6" descr="importanc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67512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60020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1. Memory: +₹2,258 MAE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2. Front Camera: +₹1,971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3. Model: +₹1,471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4. RAM: +₹1,425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5. Battery: +₹874</a:t>
            </a:r>
          </a:p>
          <a:p>
            <a:pPr>
              <a:spcAft>
                <a:spcPts val="1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Colour and AI Lens add little in this fitted pipeline.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Second run: importance order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Notebook's later Random Forest block uses random_state=42 and a different test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MOBILE PRICE PREDICTION  •  17</a:t>
            </a:r>
          </a:p>
        </p:txBody>
      </p:sp>
      <p:pic>
        <p:nvPicPr>
          <p:cNvPr id="7" name="Picture 6" descr="importance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67512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60020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Front Camera ranks first (+₹3,657 MAE), followed by Memory (+₹1,291) and Battery (+₹1,116).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Colour is slightly negative (−₹0.55): effectively no useful contribution in this run.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These values are not directly interchangeable with the Extra Trees run.</a:t>
            </a:r>
          </a:p>
          <a:p>
            <a:pPr>
              <a:spcAft>
                <a:spcPts val="13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Differences can arise from model type, split, fitted pipeline and permutation settings; report each configuration clearly.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4213D"/>
                </a:solidFill>
                <a:latin typeface="Aptos"/>
              </a:defRPr>
            </a:pPr>
            <a:r>
              <a:t>Conclusions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A practical interpretation of the notebook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07008"/>
            <a:ext cx="731520" cy="5029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rPr dirty="0"/>
              <a:t>MOBILE PRICE PREDICTION  •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7406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Storage and RAM are strong, intuitive price signals; their price-tier averages rise consistently.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Model identity and camera specifications matter to prediction quality, but feature importance is model- and split-dependent.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Primary test performance: Extra Trees MAE ≈ ₹1,591; Random Forest has stronger R²/RMSE in the same comparison.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Do not interpret permutation importance as a causal price premium or as a percentage contribution.</a:t>
            </a:r>
          </a:p>
          <a:p>
            <a:pPr>
              <a:spcAft>
                <a:spcPts val="13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Next: use cross-validation, lock one reproducible pipeline, report confidence intervals, inspect residuals by price band, and validate on newer listings.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82880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9933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D6CDF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560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Storage + 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24612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34107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2A9D8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9776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Cross-validation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466344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0" y="48280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F4A261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39495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New listing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1715</Words>
  <Application>Microsoft Office PowerPoint</Application>
  <PresentationFormat>Widescreen</PresentationFormat>
  <Paragraphs>188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rajat gupta</cp:lastModifiedBy>
  <cp:revision>6</cp:revision>
  <dcterms:created xsi:type="dcterms:W3CDTF">2013-01-27T09:14:16Z</dcterms:created>
  <dcterms:modified xsi:type="dcterms:W3CDTF">2026-10-30T07:44:58Z</dcterms:modified>
  <cp:category/>
</cp:coreProperties>
</file>